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ntro" panose="02000000000000000000" charset="0"/>
      <p:regular r:id="rId13"/>
    </p:embeddedFont>
    <p:embeddedFont>
      <p:font typeface="Glacial Indifference Bold" panose="020B0604020202020204" charset="0"/>
      <p:regular r:id="rId14"/>
    </p:embeddedFont>
    <p:embeddedFont>
      <p:font typeface="Open Sauce" panose="020B0604020202020204" charset="0"/>
      <p:regular r:id="rId15"/>
    </p:embeddedFont>
    <p:embeddedFont>
      <p:font typeface="Glacial Indifference" panose="020B0604020202020204" charset="0"/>
      <p:regular r:id="rId16"/>
    </p:embeddedFont>
    <p:embeddedFont>
      <p:font typeface="Open Sauce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353" autoAdjust="0"/>
  </p:normalViewPr>
  <p:slideViewPr>
    <p:cSldViewPr>
      <p:cViewPr varScale="1">
        <p:scale>
          <a:sx n="44" d="100"/>
          <a:sy n="44" d="100"/>
        </p:scale>
        <p:origin x="7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1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9.sv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9.sv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13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137296" y="0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09985">
            <a:off x="-1610459" y="-2176762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820285" y="952500"/>
            <a:ext cx="10096330" cy="4633991"/>
          </a:xfrm>
          <a:custGeom>
            <a:avLst/>
            <a:gdLst/>
            <a:ahLst/>
            <a:cxnLst/>
            <a:rect l="l" t="t" r="r" b="b"/>
            <a:pathLst>
              <a:path w="10096330" h="4633991">
                <a:moveTo>
                  <a:pt x="0" y="0"/>
                </a:moveTo>
                <a:lnTo>
                  <a:pt x="10096330" y="0"/>
                </a:lnTo>
                <a:lnTo>
                  <a:pt x="10096330" y="4633991"/>
                </a:lnTo>
                <a:lnTo>
                  <a:pt x="0" y="46339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027" r="-5458" b="-1802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97544" y="7948709"/>
            <a:ext cx="6396478" cy="1918943"/>
          </a:xfrm>
          <a:custGeom>
            <a:avLst/>
            <a:gdLst/>
            <a:ahLst/>
            <a:cxnLst/>
            <a:rect l="l" t="t" r="r" b="b"/>
            <a:pathLst>
              <a:path w="6396478" h="1918943">
                <a:moveTo>
                  <a:pt x="0" y="0"/>
                </a:moveTo>
                <a:lnTo>
                  <a:pt x="6396478" y="0"/>
                </a:lnTo>
                <a:lnTo>
                  <a:pt x="6396478" y="1918943"/>
                </a:lnTo>
                <a:lnTo>
                  <a:pt x="0" y="19189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25525" y="5511236"/>
            <a:ext cx="12541701" cy="67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4"/>
              </a:lnSpc>
              <a:spcBef>
                <a:spcPct val="0"/>
              </a:spcBef>
            </a:pPr>
            <a:r>
              <a:rPr lang="en-US" sz="3917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Sistema de Gestão de Eleições Acadêmicas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0246" y="8293518"/>
            <a:ext cx="10221530" cy="116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3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Graziela Dilany da Silva, João Lázaro Tavares Vieira, Pedro Henrique Nunes Bueno, Samara Stéfani da Silva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1738" y="6426669"/>
            <a:ext cx="7284523" cy="605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2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Matéria: Engenharia de Software II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5000" y="1171575"/>
            <a:ext cx="137092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791"/>
              </a:lnSpc>
            </a:pPr>
            <a:r>
              <a:rPr lang="en-US" sz="7791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PROBLEMA </a:t>
            </a:r>
            <a:r>
              <a:rPr lang="en-US" sz="7791" dirty="0" smtClean="0">
                <a:latin typeface="Intro"/>
                <a:ea typeface="Intro"/>
                <a:cs typeface="Intro"/>
                <a:sym typeface="Intro"/>
              </a:rPr>
              <a:t>/</a:t>
            </a:r>
            <a:r>
              <a:rPr lang="en-US" sz="779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ntro"/>
                <a:ea typeface="Intro"/>
                <a:cs typeface="Intro"/>
                <a:sym typeface="Intro"/>
              </a:rPr>
              <a:t>e </a:t>
            </a:r>
            <a:r>
              <a:rPr lang="en-US" sz="7791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MOTIVAÇÃO</a:t>
            </a:r>
          </a:p>
        </p:txBody>
      </p:sp>
      <p:sp>
        <p:nvSpPr>
          <p:cNvPr id="4" name="Freeform 4"/>
          <p:cNvSpPr/>
          <p:nvPr/>
        </p:nvSpPr>
        <p:spPr>
          <a:xfrm>
            <a:off x="14252018" y="-1897775"/>
            <a:ext cx="5542492" cy="4968088"/>
          </a:xfrm>
          <a:custGeom>
            <a:avLst/>
            <a:gdLst/>
            <a:ahLst/>
            <a:cxnLst/>
            <a:rect l="l" t="t" r="r" b="b"/>
            <a:pathLst>
              <a:path w="5542492" h="4968088">
                <a:moveTo>
                  <a:pt x="0" y="0"/>
                </a:moveTo>
                <a:lnTo>
                  <a:pt x="5542492" y="0"/>
                </a:lnTo>
                <a:lnTo>
                  <a:pt x="5542492" y="4968088"/>
                </a:lnTo>
                <a:lnTo>
                  <a:pt x="0" y="4968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7000" y="7847803"/>
            <a:ext cx="2511313" cy="2251049"/>
          </a:xfrm>
          <a:custGeom>
            <a:avLst/>
            <a:gdLst/>
            <a:ahLst/>
            <a:cxnLst/>
            <a:rect l="l" t="t" r="r" b="b"/>
            <a:pathLst>
              <a:path w="2511313" h="2251049">
                <a:moveTo>
                  <a:pt x="0" y="0"/>
                </a:moveTo>
                <a:lnTo>
                  <a:pt x="2511313" y="0"/>
                </a:lnTo>
                <a:lnTo>
                  <a:pt x="2511313" y="2251050"/>
                </a:lnTo>
                <a:lnTo>
                  <a:pt x="0" y="2251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5000" y="3224047"/>
            <a:ext cx="12455983" cy="119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917" lvl="1" indent="-366458" algn="l">
              <a:lnSpc>
                <a:spcPts val="4752"/>
              </a:lnSpc>
              <a:buFont typeface="Arial"/>
              <a:buChar char="•"/>
            </a:pPr>
            <a:r>
              <a:rPr lang="en-US" sz="3394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Dificuldade no controle das eleições.</a:t>
            </a:r>
          </a:p>
          <a:p>
            <a:pPr marL="0" lvl="0" indent="0" algn="l">
              <a:lnSpc>
                <a:spcPts val="4752"/>
              </a:lnSpc>
              <a:spcBef>
                <a:spcPct val="0"/>
              </a:spcBef>
            </a:pPr>
            <a:endParaRPr lang="en-US" sz="3394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5000" y="4114531"/>
            <a:ext cx="12455983" cy="119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917" lvl="1" indent="-366458" algn="l">
              <a:lnSpc>
                <a:spcPts val="4752"/>
              </a:lnSpc>
              <a:buFont typeface="Arial"/>
              <a:buChar char="•"/>
            </a:pPr>
            <a:r>
              <a:rPr lang="en-US" sz="3394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Falta de transparência e registro formal</a:t>
            </a:r>
          </a:p>
          <a:p>
            <a:pPr marL="0" lvl="0" indent="0" algn="l">
              <a:lnSpc>
                <a:spcPts val="4752"/>
              </a:lnSpc>
              <a:spcBef>
                <a:spcPct val="0"/>
              </a:spcBef>
            </a:pPr>
            <a:endParaRPr lang="en-US" sz="3394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5000" y="4972108"/>
            <a:ext cx="12455983" cy="59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918" lvl="1" indent="-366459" algn="l">
              <a:lnSpc>
                <a:spcPts val="4752"/>
              </a:lnSpc>
              <a:spcBef>
                <a:spcPct val="0"/>
              </a:spcBef>
              <a:buFont typeface="Arial"/>
              <a:buChar char="•"/>
            </a:pPr>
            <a:r>
              <a:rPr lang="en-US" sz="3394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Risco de erros manuais( CáLCULO DE VOTOS)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683948" y="-682315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87286" y="8168037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2011848" y="-870891"/>
            <a:ext cx="5093870" cy="4565960"/>
          </a:xfrm>
          <a:custGeom>
            <a:avLst/>
            <a:gdLst/>
            <a:ahLst/>
            <a:cxnLst/>
            <a:rect l="l" t="t" r="r" b="b"/>
            <a:pathLst>
              <a:path w="5093870" h="4565960">
                <a:moveTo>
                  <a:pt x="0" y="0"/>
                </a:moveTo>
                <a:lnTo>
                  <a:pt x="5093870" y="0"/>
                </a:lnTo>
                <a:lnTo>
                  <a:pt x="5093870" y="4565959"/>
                </a:lnTo>
                <a:lnTo>
                  <a:pt x="0" y="45659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6258745" y="6975320"/>
            <a:ext cx="5093870" cy="4565960"/>
          </a:xfrm>
          <a:custGeom>
            <a:avLst/>
            <a:gdLst/>
            <a:ahLst/>
            <a:cxnLst/>
            <a:rect l="l" t="t" r="r" b="b"/>
            <a:pathLst>
              <a:path w="5093870" h="4565960">
                <a:moveTo>
                  <a:pt x="0" y="0"/>
                </a:moveTo>
                <a:lnTo>
                  <a:pt x="5093870" y="0"/>
                </a:lnTo>
                <a:lnTo>
                  <a:pt x="5093870" y="4565960"/>
                </a:lnTo>
                <a:lnTo>
                  <a:pt x="0" y="4565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18240" y="975399"/>
            <a:ext cx="14183454" cy="92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79"/>
              </a:lnSpc>
            </a:pPr>
            <a:r>
              <a:rPr lang="en-US" sz="6879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TECNOLOGIAS UTILIZADAS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4415" y="3288480"/>
            <a:ext cx="7065822" cy="147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Responsável</a:t>
            </a:r>
            <a:r>
              <a:rPr lang="en-US" sz="2800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pela</a:t>
            </a:r>
            <a:r>
              <a:rPr lang="en-US" sz="2800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estruturação</a:t>
            </a:r>
            <a:r>
              <a:rPr lang="en-US" sz="2800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 das páginas e </a:t>
            </a:r>
            <a:r>
              <a:rPr lang="en-US" sz="2800" dirty="0" err="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organização</a:t>
            </a:r>
            <a:r>
              <a:rPr lang="en-US" sz="2800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 dos </a:t>
            </a:r>
            <a:r>
              <a:rPr lang="en-US" sz="2800" dirty="0" err="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elementos</a:t>
            </a:r>
            <a:r>
              <a:rPr lang="en-US" sz="2800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dirty="0" err="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exibidos</a:t>
            </a:r>
            <a:r>
              <a:rPr lang="en-US" sz="2800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4552" y="2657041"/>
            <a:ext cx="8049448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HTML – HyperText Markup Language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02484" y="3442133"/>
            <a:ext cx="5950492" cy="97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Para a construção e estilização das interfaces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0969" y="2657041"/>
            <a:ext cx="8049448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CSS – Cascading Style Sheets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0352" y="5613516"/>
            <a:ext cx="5950492" cy="97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Para garantir interatividade e validações.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800" y="4991199"/>
            <a:ext cx="8049448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JavaScript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74947" y="5344626"/>
            <a:ext cx="6344135" cy="147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Linguagem principal no back-end para implementação e comunicação com o banco de dados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0702" y="4722310"/>
            <a:ext cx="8049448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PHP – Personal Home Page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63418" y="8180305"/>
            <a:ext cx="5950492" cy="147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Fornece o servidor Apache utilizado durante o desenvolvimento e testes locais.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974655"/>
            <a:ext cx="8397252" cy="109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XAMPP – Cross-Platform Apache MariaDB PHP Perl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10447" y="7495924"/>
            <a:ext cx="5950492" cy="196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Para armazenamento das informações, o sistema utiliza o banco de dados MySQL disponibilizado pelo XAMPP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0969" y="6949807"/>
            <a:ext cx="8049448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657" y="-2217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93289" y="-2971311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7" y="0"/>
                </a:lnTo>
                <a:lnTo>
                  <a:pt x="5278317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46296">
            <a:off x="14365479" y="6910695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6911889" y="1144308"/>
            <a:ext cx="2215619" cy="269903"/>
          </a:xfrm>
          <a:custGeom>
            <a:avLst/>
            <a:gdLst/>
            <a:ahLst/>
            <a:cxnLst/>
            <a:rect l="l" t="t" r="r" b="b"/>
            <a:pathLst>
              <a:path w="2215619" h="269903">
                <a:moveTo>
                  <a:pt x="0" y="0"/>
                </a:moveTo>
                <a:lnTo>
                  <a:pt x="2215619" y="0"/>
                </a:lnTo>
                <a:lnTo>
                  <a:pt x="2215619" y="269903"/>
                </a:lnTo>
                <a:lnTo>
                  <a:pt x="0" y="2699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86" y="10055197"/>
            <a:ext cx="2215619" cy="269903"/>
          </a:xfrm>
          <a:custGeom>
            <a:avLst/>
            <a:gdLst/>
            <a:ahLst/>
            <a:cxnLst/>
            <a:rect l="l" t="t" r="r" b="b"/>
            <a:pathLst>
              <a:path w="2215619" h="269903">
                <a:moveTo>
                  <a:pt x="0" y="0"/>
                </a:moveTo>
                <a:lnTo>
                  <a:pt x="2215619" y="0"/>
                </a:lnTo>
                <a:lnTo>
                  <a:pt x="2215619" y="269902"/>
                </a:lnTo>
                <a:lnTo>
                  <a:pt x="0" y="269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85028" y="1152525"/>
            <a:ext cx="12766207" cy="89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71"/>
              </a:lnSpc>
            </a:pPr>
            <a:r>
              <a:rPr lang="en-US" sz="6671" spc="133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FUNCIONALIDADES CHAVE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071280"/>
            <a:ext cx="14076291" cy="5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457" lvl="1" indent="-342229" algn="l">
              <a:lnSpc>
                <a:spcPts val="4438"/>
              </a:lnSpc>
              <a:spcBef>
                <a:spcPct val="0"/>
              </a:spcBef>
              <a:buFont typeface="Arial"/>
              <a:buChar char="•"/>
            </a:pPr>
            <a:r>
              <a:rPr lang="en-US" sz="317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Registro e auditoria das eleições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795090"/>
            <a:ext cx="1407629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457" lvl="1" indent="-342229" algn="l">
              <a:lnSpc>
                <a:spcPts val="4438"/>
              </a:lnSpc>
              <a:spcBef>
                <a:spcPct val="0"/>
              </a:spcBef>
              <a:buFont typeface="Arial"/>
              <a:buChar char="•"/>
            </a:pPr>
            <a:r>
              <a:rPr lang="en-US" sz="3170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VOTO 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EM </a:t>
            </a:r>
            <a:r>
              <a:rPr lang="en-US" sz="3170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branco</a:t>
            </a:r>
            <a:endParaRPr lang="en-US" sz="3170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5460033"/>
            <a:ext cx="14076291" cy="5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457" lvl="1" indent="-342229" algn="l">
              <a:lnSpc>
                <a:spcPts val="4438"/>
              </a:lnSpc>
              <a:spcBef>
                <a:spcPct val="0"/>
              </a:spcBef>
              <a:buFont typeface="Arial"/>
              <a:buChar char="•"/>
            </a:pP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Organização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das </a:t>
            </a: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turmas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e </a:t>
            </a: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alunos</a:t>
            </a:r>
            <a:endParaRPr lang="en-US" sz="3170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176349"/>
            <a:ext cx="14076291" cy="5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458" lvl="1" indent="-342229" algn="l">
              <a:lnSpc>
                <a:spcPts val="4438"/>
              </a:lnSpc>
              <a:spcBef>
                <a:spcPct val="0"/>
              </a:spcBef>
              <a:buFont typeface="Arial"/>
              <a:buChar char="•"/>
            </a:pP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Gerador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de ATA </a:t>
            </a: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em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PDF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833484"/>
            <a:ext cx="14076291" cy="5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458" lvl="1" indent="-342229" algn="l">
              <a:lnSpc>
                <a:spcPts val="4438"/>
              </a:lnSpc>
              <a:spcBef>
                <a:spcPct val="0"/>
              </a:spcBef>
              <a:buFont typeface="Arial"/>
              <a:buChar char="•"/>
            </a:pP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Criar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170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eleições</a:t>
            </a:r>
            <a:r>
              <a:rPr lang="en-US" sz="3170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170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automatícas</a:t>
            </a:r>
            <a:endParaRPr lang="en-US" sz="3170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381910"/>
            <a:ext cx="12046655" cy="53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6187" lvl="1" indent="-333093" algn="l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sz="3085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Notificação de aprovação de candidatura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755047"/>
            <a:ext cx="8842717" cy="53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6187" lvl="1" indent="-333093" algn="l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sz="3085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Login com e-mail institucional</a:t>
            </a:r>
          </a:p>
        </p:txBody>
      </p:sp>
      <p:sp>
        <p:nvSpPr>
          <p:cNvPr id="15" name="TextBox 12"/>
          <p:cNvSpPr txBox="1"/>
          <p:nvPr/>
        </p:nvSpPr>
        <p:spPr>
          <a:xfrm>
            <a:off x="1028699" y="7493600"/>
            <a:ext cx="1407629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4458" lvl="1" indent="-342229" algn="l">
              <a:lnSpc>
                <a:spcPts val="4438"/>
              </a:lnSpc>
              <a:spcBef>
                <a:spcPct val="0"/>
              </a:spcBef>
              <a:buFont typeface="Arial"/>
              <a:buChar char="•"/>
            </a:pPr>
            <a:r>
              <a:rPr lang="en-US" sz="3170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Termos</a:t>
            </a:r>
            <a:r>
              <a:rPr lang="en-US" sz="3170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de </a:t>
            </a:r>
            <a:r>
              <a:rPr lang="en-US" sz="3170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Uso</a:t>
            </a:r>
            <a:endParaRPr lang="en-US" sz="3170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85725" y="7871834"/>
            <a:ext cx="2598768" cy="2329441"/>
          </a:xfrm>
          <a:custGeom>
            <a:avLst/>
            <a:gdLst/>
            <a:ahLst/>
            <a:cxnLst/>
            <a:rect l="l" t="t" r="r" b="b"/>
            <a:pathLst>
              <a:path w="2598768" h="2329441">
                <a:moveTo>
                  <a:pt x="0" y="0"/>
                </a:moveTo>
                <a:lnTo>
                  <a:pt x="2598768" y="0"/>
                </a:lnTo>
                <a:lnTo>
                  <a:pt x="2598768" y="2329441"/>
                </a:lnTo>
                <a:lnTo>
                  <a:pt x="0" y="2329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6382">
            <a:off x="14931411" y="-2240880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9246" y="96032"/>
            <a:ext cx="2455893" cy="299172"/>
          </a:xfrm>
          <a:custGeom>
            <a:avLst/>
            <a:gdLst/>
            <a:ahLst/>
            <a:cxnLst/>
            <a:rect l="l" t="t" r="r" b="b"/>
            <a:pathLst>
              <a:path w="2455893" h="299172">
                <a:moveTo>
                  <a:pt x="0" y="0"/>
                </a:moveTo>
                <a:lnTo>
                  <a:pt x="2455892" y="0"/>
                </a:lnTo>
                <a:lnTo>
                  <a:pt x="2455892" y="299172"/>
                </a:lnTo>
                <a:lnTo>
                  <a:pt x="0" y="2991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2000" y="1349646"/>
            <a:ext cx="14796372" cy="91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7"/>
              </a:lnSpc>
              <a:spcBef>
                <a:spcPct val="0"/>
              </a:spcBef>
            </a:pPr>
            <a:r>
              <a:rPr lang="en-US" sz="6857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R</a:t>
            </a:r>
            <a:r>
              <a:rPr lang="en-US" sz="6857" u="none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EQUISITOS NÃO FUNCIONAIS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985447"/>
            <a:ext cx="1311580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9167" lvl="1" indent="-384584" algn="l">
              <a:lnSpc>
                <a:spcPts val="4987"/>
              </a:lnSpc>
              <a:spcBef>
                <a:spcPct val="0"/>
              </a:spcBef>
              <a:buFont typeface="Arial"/>
              <a:buChar char="•"/>
            </a:pP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Usabilidade </a:t>
            </a:r>
            <a:r>
              <a:rPr lang="en-US" sz="3562" dirty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(</a:t>
            </a: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layout </a:t>
            </a:r>
            <a:r>
              <a:rPr lang="en-US" sz="3562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simples e </a:t>
            </a: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acessível</a:t>
            </a:r>
            <a:r>
              <a:rPr lang="en-US" sz="3562" dirty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)</a:t>
            </a: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)</a:t>
            </a:r>
            <a:endParaRPr lang="en-US" sz="3562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3795989"/>
            <a:ext cx="1311580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9167" lvl="1" indent="-384584" algn="l">
              <a:lnSpc>
                <a:spcPts val="4987"/>
              </a:lnSpc>
              <a:spcBef>
                <a:spcPct val="0"/>
              </a:spcBef>
              <a:buFont typeface="Arial"/>
              <a:buChar char="•"/>
            </a:pPr>
            <a:r>
              <a:rPr lang="en-US" sz="3562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Desempenho </a:t>
            </a:r>
            <a:r>
              <a:rPr lang="en-US" sz="3562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(</a:t>
            </a: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páginas rápidas</a:t>
            </a:r>
            <a:r>
              <a:rPr lang="en-US" sz="3562" dirty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)</a:t>
            </a:r>
            <a:endParaRPr lang="en-US" sz="3562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4584136"/>
            <a:ext cx="15214518" cy="60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9167" lvl="1" indent="-384584" algn="l">
              <a:lnSpc>
                <a:spcPts val="4987"/>
              </a:lnSpc>
              <a:spcBef>
                <a:spcPct val="0"/>
              </a:spcBef>
              <a:buFont typeface="Arial"/>
              <a:buChar char="•"/>
            </a:pPr>
            <a:r>
              <a:rPr lang="en-US" sz="3562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Confiabilidade </a:t>
            </a:r>
            <a:r>
              <a:rPr lang="en-US" sz="3562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(</a:t>
            </a: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dados gravados</a:t>
            </a:r>
            <a:r>
              <a:rPr lang="en-US" sz="3562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)</a:t>
            </a:r>
            <a:r>
              <a:rPr lang="en-US" sz="3562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)</a:t>
            </a:r>
            <a:endParaRPr lang="en-US" sz="3562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6031354" y="9911628"/>
            <a:ext cx="2455893" cy="299172"/>
          </a:xfrm>
          <a:custGeom>
            <a:avLst/>
            <a:gdLst/>
            <a:ahLst/>
            <a:cxnLst/>
            <a:rect l="l" t="t" r="r" b="b"/>
            <a:pathLst>
              <a:path w="2455893" h="299172">
                <a:moveTo>
                  <a:pt x="0" y="0"/>
                </a:moveTo>
                <a:lnTo>
                  <a:pt x="2455892" y="0"/>
                </a:lnTo>
                <a:lnTo>
                  <a:pt x="2455892" y="299172"/>
                </a:lnTo>
                <a:lnTo>
                  <a:pt x="0" y="2991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137296" y="0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432179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6"/>
                </a:lnTo>
                <a:lnTo>
                  <a:pt x="0" y="282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09985">
            <a:off x="14823341" y="6865638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8922" y="5613527"/>
            <a:ext cx="8303552" cy="4439653"/>
          </a:xfrm>
          <a:custGeom>
            <a:avLst/>
            <a:gdLst/>
            <a:ahLst/>
            <a:cxnLst/>
            <a:rect l="l" t="t" r="r" b="b"/>
            <a:pathLst>
              <a:path w="8303552" h="4439653">
                <a:moveTo>
                  <a:pt x="0" y="0"/>
                </a:moveTo>
                <a:lnTo>
                  <a:pt x="8303552" y="0"/>
                </a:lnTo>
                <a:lnTo>
                  <a:pt x="8303552" y="4439654"/>
                </a:lnTo>
                <a:lnTo>
                  <a:pt x="0" y="4439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657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278922" y="1171025"/>
            <a:ext cx="9215643" cy="4300178"/>
          </a:xfrm>
          <a:custGeom>
            <a:avLst/>
            <a:gdLst/>
            <a:ahLst/>
            <a:cxnLst/>
            <a:rect l="l" t="t" r="r" b="b"/>
            <a:pathLst>
              <a:path w="9215643" h="4300178">
                <a:moveTo>
                  <a:pt x="0" y="0"/>
                </a:moveTo>
                <a:lnTo>
                  <a:pt x="9215643" y="0"/>
                </a:lnTo>
                <a:lnTo>
                  <a:pt x="9215643" y="4300177"/>
                </a:lnTo>
                <a:lnTo>
                  <a:pt x="0" y="4300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705293" y="1171025"/>
            <a:ext cx="5894921" cy="4300178"/>
          </a:xfrm>
          <a:custGeom>
            <a:avLst/>
            <a:gdLst/>
            <a:ahLst/>
            <a:cxnLst/>
            <a:rect l="l" t="t" r="r" b="b"/>
            <a:pathLst>
              <a:path w="5894921" h="4300178">
                <a:moveTo>
                  <a:pt x="0" y="0"/>
                </a:moveTo>
                <a:lnTo>
                  <a:pt x="5894921" y="0"/>
                </a:lnTo>
                <a:lnTo>
                  <a:pt x="5894921" y="4300177"/>
                </a:lnTo>
                <a:lnTo>
                  <a:pt x="0" y="43001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348" r="-3117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8814778" y="5614077"/>
            <a:ext cx="9320822" cy="4439653"/>
          </a:xfrm>
          <a:custGeom>
            <a:avLst/>
            <a:gdLst/>
            <a:ahLst/>
            <a:cxnLst/>
            <a:rect l="l" t="t" r="r" b="b"/>
            <a:pathLst>
              <a:path w="9320822" h="4439653">
                <a:moveTo>
                  <a:pt x="0" y="0"/>
                </a:moveTo>
                <a:lnTo>
                  <a:pt x="9320822" y="0"/>
                </a:lnTo>
                <a:lnTo>
                  <a:pt x="9320822" y="4439654"/>
                </a:lnTo>
                <a:lnTo>
                  <a:pt x="0" y="4439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40" r="-12980" b="-794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028700" y="425408"/>
            <a:ext cx="13641555" cy="60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3"/>
              </a:lnSpc>
            </a:pPr>
            <a:r>
              <a:rPr lang="en-US" sz="4174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INTERFACE DO SISTEMA 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(</a:t>
            </a:r>
            <a:r>
              <a:rPr lang="en-US" sz="4174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(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TELAS </a:t>
            </a:r>
            <a:r>
              <a:rPr lang="en-US" sz="4174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DO 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USUÁRIO</a:t>
            </a:r>
            <a:r>
              <a:rPr lang="en-US" sz="4174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)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)</a:t>
            </a:r>
            <a:endParaRPr lang="en-US" sz="4174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137296" y="0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432179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6"/>
                </a:lnTo>
                <a:lnTo>
                  <a:pt x="0" y="282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09985">
            <a:off x="14823341" y="6865638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8922" y="1115428"/>
            <a:ext cx="9322677" cy="4537595"/>
          </a:xfrm>
          <a:custGeom>
            <a:avLst/>
            <a:gdLst/>
            <a:ahLst/>
            <a:cxnLst/>
            <a:rect l="l" t="t" r="r" b="b"/>
            <a:pathLst>
              <a:path w="9322677" h="4537595">
                <a:moveTo>
                  <a:pt x="0" y="0"/>
                </a:moveTo>
                <a:lnTo>
                  <a:pt x="9322677" y="0"/>
                </a:lnTo>
                <a:lnTo>
                  <a:pt x="9322677" y="4537596"/>
                </a:lnTo>
                <a:lnTo>
                  <a:pt x="0" y="45375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638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278922" y="5778402"/>
            <a:ext cx="9322677" cy="4363653"/>
          </a:xfrm>
          <a:custGeom>
            <a:avLst/>
            <a:gdLst/>
            <a:ahLst/>
            <a:cxnLst/>
            <a:rect l="l" t="t" r="r" b="b"/>
            <a:pathLst>
              <a:path w="9322677" h="4363653">
                <a:moveTo>
                  <a:pt x="0" y="0"/>
                </a:moveTo>
                <a:lnTo>
                  <a:pt x="9322677" y="0"/>
                </a:lnTo>
                <a:lnTo>
                  <a:pt x="9322677" y="4363653"/>
                </a:lnTo>
                <a:lnTo>
                  <a:pt x="0" y="4363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1784" b="-770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9741303" y="1135967"/>
            <a:ext cx="8317374" cy="4507532"/>
          </a:xfrm>
          <a:custGeom>
            <a:avLst/>
            <a:gdLst/>
            <a:ahLst/>
            <a:cxnLst/>
            <a:rect l="l" t="t" r="r" b="b"/>
            <a:pathLst>
              <a:path w="8317374" h="4507532">
                <a:moveTo>
                  <a:pt x="0" y="0"/>
                </a:moveTo>
                <a:lnTo>
                  <a:pt x="8317374" y="0"/>
                </a:lnTo>
                <a:lnTo>
                  <a:pt x="8317374" y="4507532"/>
                </a:lnTo>
                <a:lnTo>
                  <a:pt x="0" y="45075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434" t="-18128" r="-2113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9741303" y="5934566"/>
            <a:ext cx="8371363" cy="3825585"/>
          </a:xfrm>
          <a:custGeom>
            <a:avLst/>
            <a:gdLst/>
            <a:ahLst/>
            <a:cxnLst/>
            <a:rect l="l" t="t" r="r" b="b"/>
            <a:pathLst>
              <a:path w="8371363" h="3825585">
                <a:moveTo>
                  <a:pt x="0" y="0"/>
                </a:moveTo>
                <a:lnTo>
                  <a:pt x="8371364" y="0"/>
                </a:lnTo>
                <a:lnTo>
                  <a:pt x="8371364" y="3825585"/>
                </a:lnTo>
                <a:lnTo>
                  <a:pt x="0" y="38255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144" t="-9731" r="-832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278922" y="424858"/>
            <a:ext cx="15013773" cy="60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3"/>
              </a:lnSpc>
            </a:pPr>
            <a:r>
              <a:rPr lang="en-US" sz="4174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INTERFACE DO SISTEMA 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(</a:t>
            </a:r>
            <a:r>
              <a:rPr lang="en-US" sz="4174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(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TELAS </a:t>
            </a:r>
            <a:r>
              <a:rPr lang="en-US" sz="4174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DO </a:t>
            </a:r>
            <a:r>
              <a:rPr lang="en-US" sz="4174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Administrador</a:t>
            </a:r>
            <a:r>
              <a:rPr lang="en-US" sz="4174" dirty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)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)</a:t>
            </a:r>
            <a:endParaRPr lang="en-US" sz="4174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5683948" y="-383939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65276" y="7755393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5" y="0"/>
                </a:lnTo>
                <a:lnTo>
                  <a:pt x="3150705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09985">
            <a:off x="14823341" y="6865638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98306" y="5349681"/>
            <a:ext cx="9595848" cy="4811425"/>
          </a:xfrm>
          <a:custGeom>
            <a:avLst/>
            <a:gdLst/>
            <a:ahLst/>
            <a:cxnLst/>
            <a:rect l="l" t="t" r="r" b="b"/>
            <a:pathLst>
              <a:path w="9595848" h="4811425">
                <a:moveTo>
                  <a:pt x="0" y="0"/>
                </a:moveTo>
                <a:lnTo>
                  <a:pt x="9595848" y="0"/>
                </a:lnTo>
                <a:lnTo>
                  <a:pt x="9595848" y="4811424"/>
                </a:lnTo>
                <a:lnTo>
                  <a:pt x="0" y="4811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50" r="-816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278922" y="1203791"/>
            <a:ext cx="9440485" cy="4576351"/>
          </a:xfrm>
          <a:custGeom>
            <a:avLst/>
            <a:gdLst/>
            <a:ahLst/>
            <a:cxnLst/>
            <a:rect l="l" t="t" r="r" b="b"/>
            <a:pathLst>
              <a:path w="9440485" h="4576351">
                <a:moveTo>
                  <a:pt x="0" y="0"/>
                </a:moveTo>
                <a:lnTo>
                  <a:pt x="9440485" y="0"/>
                </a:lnTo>
                <a:lnTo>
                  <a:pt x="9440485" y="4576351"/>
                </a:lnTo>
                <a:lnTo>
                  <a:pt x="0" y="45763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35" r="-534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402747" y="424858"/>
            <a:ext cx="15013773" cy="60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3"/>
              </a:lnSpc>
            </a:pPr>
            <a:r>
              <a:rPr lang="en-US" sz="4174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INTERFACE DO SISTEMA 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(</a:t>
            </a:r>
            <a:r>
              <a:rPr lang="en-US" sz="4174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(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TELAS </a:t>
            </a:r>
            <a:r>
              <a:rPr lang="en-US" sz="4174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DO </a:t>
            </a:r>
            <a:r>
              <a:rPr lang="en-US" sz="4174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Administrador</a:t>
            </a:r>
            <a:r>
              <a:rPr lang="en-US" sz="4174" dirty="0" smtClean="0">
                <a:solidFill>
                  <a:srgbClr val="292929"/>
                </a:solidFill>
                <a:latin typeface="+mj-lt"/>
                <a:ea typeface="Intro"/>
                <a:cs typeface="Intro"/>
                <a:sym typeface="Intro"/>
              </a:rPr>
              <a:t>)</a:t>
            </a:r>
            <a:r>
              <a:rPr lang="en-US" sz="4174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)</a:t>
            </a:r>
            <a:endParaRPr lang="en-US" sz="4174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75741" y="9841438"/>
            <a:ext cx="3657600" cy="445562"/>
          </a:xfrm>
          <a:custGeom>
            <a:avLst/>
            <a:gdLst/>
            <a:ahLst/>
            <a:cxnLst/>
            <a:rect l="l" t="t" r="r" b="b"/>
            <a:pathLst>
              <a:path w="3657600" h="445562">
                <a:moveTo>
                  <a:pt x="0" y="0"/>
                </a:moveTo>
                <a:lnTo>
                  <a:pt x="3657600" y="0"/>
                </a:lnTo>
                <a:lnTo>
                  <a:pt x="3657600" y="445562"/>
                </a:lnTo>
                <a:lnTo>
                  <a:pt x="0" y="44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1262" y="-54480"/>
            <a:ext cx="3657600" cy="445562"/>
          </a:xfrm>
          <a:custGeom>
            <a:avLst/>
            <a:gdLst/>
            <a:ahLst/>
            <a:cxnLst/>
            <a:rect l="l" t="t" r="r" b="b"/>
            <a:pathLst>
              <a:path w="3657600" h="445562">
                <a:moveTo>
                  <a:pt x="0" y="0"/>
                </a:moveTo>
                <a:lnTo>
                  <a:pt x="3657600" y="0"/>
                </a:lnTo>
                <a:lnTo>
                  <a:pt x="3657600" y="445562"/>
                </a:lnTo>
                <a:lnTo>
                  <a:pt x="0" y="44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91083"/>
            <a:ext cx="1445749" cy="1295917"/>
          </a:xfrm>
          <a:custGeom>
            <a:avLst/>
            <a:gdLst/>
            <a:ahLst/>
            <a:cxnLst/>
            <a:rect l="l" t="t" r="r" b="b"/>
            <a:pathLst>
              <a:path w="1445749" h="1295917">
                <a:moveTo>
                  <a:pt x="0" y="0"/>
                </a:moveTo>
                <a:lnTo>
                  <a:pt x="1445749" y="0"/>
                </a:lnTo>
                <a:lnTo>
                  <a:pt x="1445749" y="1295917"/>
                </a:lnTo>
                <a:lnTo>
                  <a:pt x="0" y="1295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95400" y="3232259"/>
            <a:ext cx="9942856" cy="60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298" lvl="1" indent="-375649" algn="l">
              <a:lnSpc>
                <a:spcPts val="4871"/>
              </a:lnSpc>
              <a:spcBef>
                <a:spcPct val="0"/>
              </a:spcBef>
              <a:buFont typeface="Arial"/>
              <a:buChar char="•"/>
            </a:pP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Mais</a:t>
            </a:r>
            <a:r>
              <a:rPr lang="en-US" sz="3479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transparência</a:t>
            </a:r>
            <a:endParaRPr lang="en-US" sz="3479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0600" y="1350421"/>
            <a:ext cx="13401297" cy="94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3"/>
              </a:lnSpc>
            </a:pPr>
            <a:r>
              <a:rPr lang="en-US" sz="7003" spc="14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RESULTADOS ESPERADOS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5400" y="3928866"/>
            <a:ext cx="9942856" cy="60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298" lvl="1" indent="-375649" algn="l">
              <a:lnSpc>
                <a:spcPts val="4871"/>
              </a:lnSpc>
              <a:spcBef>
                <a:spcPct val="0"/>
              </a:spcBef>
              <a:buFont typeface="Arial"/>
              <a:buChar char="•"/>
            </a:pP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Menos</a:t>
            </a:r>
            <a:r>
              <a:rPr lang="en-US" sz="3479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trabalho</a:t>
            </a:r>
            <a:r>
              <a:rPr lang="en-US" sz="3479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manual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4675802"/>
            <a:ext cx="9942856" cy="60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298" lvl="1" indent="-375649" algn="l">
              <a:lnSpc>
                <a:spcPts val="4871"/>
              </a:lnSpc>
              <a:spcBef>
                <a:spcPct val="0"/>
              </a:spcBef>
              <a:buFont typeface="Arial"/>
              <a:buChar char="•"/>
            </a:pPr>
            <a:r>
              <a:rPr lang="en-US" sz="3479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Processo válido e registrado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5425858"/>
            <a:ext cx="1268479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1298" lvl="1" indent="-375649" algn="l">
              <a:lnSpc>
                <a:spcPts val="4871"/>
              </a:lnSpc>
              <a:spcBef>
                <a:spcPct val="0"/>
              </a:spcBef>
              <a:buFont typeface="Arial"/>
              <a:buChar char="•"/>
            </a:pP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Facilidade</a:t>
            </a:r>
            <a:r>
              <a:rPr lang="en-US" sz="3479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para </a:t>
            </a: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coordenação</a:t>
            </a:r>
            <a:r>
              <a:rPr lang="en-US" sz="3479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e </a:t>
            </a:r>
            <a:r>
              <a:rPr lang="en-US" sz="3479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estudantes</a:t>
            </a:r>
            <a:endParaRPr lang="en-US" sz="3479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0" name="Freeform 10"/>
          <p:cNvSpPr/>
          <p:nvPr/>
        </p:nvSpPr>
        <p:spPr>
          <a:xfrm rot="-10800000">
            <a:off x="14130545" y="0"/>
            <a:ext cx="4157455" cy="3726591"/>
          </a:xfrm>
          <a:custGeom>
            <a:avLst/>
            <a:gdLst/>
            <a:ahLst/>
            <a:cxnLst/>
            <a:rect l="l" t="t" r="r" b="b"/>
            <a:pathLst>
              <a:path w="4157455" h="3726591">
                <a:moveTo>
                  <a:pt x="0" y="0"/>
                </a:moveTo>
                <a:lnTo>
                  <a:pt x="4157455" y="0"/>
                </a:lnTo>
                <a:lnTo>
                  <a:pt x="4157455" y="3726591"/>
                </a:lnTo>
                <a:lnTo>
                  <a:pt x="0" y="3726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75741" y="9841438"/>
            <a:ext cx="3657600" cy="445562"/>
          </a:xfrm>
          <a:custGeom>
            <a:avLst/>
            <a:gdLst/>
            <a:ahLst/>
            <a:cxnLst/>
            <a:rect l="l" t="t" r="r" b="b"/>
            <a:pathLst>
              <a:path w="3657600" h="445562">
                <a:moveTo>
                  <a:pt x="0" y="0"/>
                </a:moveTo>
                <a:lnTo>
                  <a:pt x="3657600" y="0"/>
                </a:lnTo>
                <a:lnTo>
                  <a:pt x="3657600" y="445562"/>
                </a:lnTo>
                <a:lnTo>
                  <a:pt x="0" y="44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1262" y="-54480"/>
            <a:ext cx="3657600" cy="445562"/>
          </a:xfrm>
          <a:custGeom>
            <a:avLst/>
            <a:gdLst/>
            <a:ahLst/>
            <a:cxnLst/>
            <a:rect l="l" t="t" r="r" b="b"/>
            <a:pathLst>
              <a:path w="3657600" h="445562">
                <a:moveTo>
                  <a:pt x="0" y="0"/>
                </a:moveTo>
                <a:lnTo>
                  <a:pt x="3657600" y="0"/>
                </a:lnTo>
                <a:lnTo>
                  <a:pt x="3657600" y="445562"/>
                </a:lnTo>
                <a:lnTo>
                  <a:pt x="0" y="44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91083"/>
            <a:ext cx="1445749" cy="1295917"/>
          </a:xfrm>
          <a:custGeom>
            <a:avLst/>
            <a:gdLst/>
            <a:ahLst/>
            <a:cxnLst/>
            <a:rect l="l" t="t" r="r" b="b"/>
            <a:pathLst>
              <a:path w="1445749" h="1295917">
                <a:moveTo>
                  <a:pt x="0" y="0"/>
                </a:moveTo>
                <a:lnTo>
                  <a:pt x="1445749" y="0"/>
                </a:lnTo>
                <a:lnTo>
                  <a:pt x="1445749" y="1295917"/>
                </a:lnTo>
                <a:lnTo>
                  <a:pt x="0" y="1295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812032"/>
            <a:ext cx="15180573" cy="3825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7"/>
              </a:lnSpc>
            </a:pP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O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progresso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conquistado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até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agora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fortalece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a base do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projeto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,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que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continuará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sendo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desenvolvido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com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foco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na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confiabilidade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e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facilidade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de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uso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. a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equipe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pôde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amadurecer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sua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compreensão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sobre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 err="1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organização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de </a:t>
            </a:r>
            <a:r>
              <a:rPr lang="en-US" sz="3598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requisitos</a:t>
            </a:r>
            <a:r>
              <a:rPr lang="en-US" sz="3598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e </a:t>
            </a:r>
            <a:r>
              <a:rPr lang="en-US" sz="3598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mapeamento</a:t>
            </a:r>
            <a:r>
              <a:rPr lang="en-US" sz="3598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3598" dirty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de </a:t>
            </a:r>
            <a:r>
              <a:rPr lang="en-US" sz="3598" dirty="0" err="1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fluxos</a:t>
            </a:r>
            <a:r>
              <a:rPr lang="en-US" sz="3598" dirty="0" smtClean="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.</a:t>
            </a:r>
            <a:endParaRPr lang="en-US" sz="3598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  <a:p>
            <a:pPr algn="l">
              <a:lnSpc>
                <a:spcPts val="5037"/>
              </a:lnSpc>
              <a:spcBef>
                <a:spcPct val="0"/>
              </a:spcBef>
            </a:pPr>
            <a:endParaRPr lang="en-US" sz="3598" dirty="0">
              <a:solidFill>
                <a:srgbClr val="29292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247775"/>
            <a:ext cx="13947041" cy="97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8"/>
              </a:lnSpc>
            </a:pPr>
            <a:r>
              <a:rPr lang="en-US" sz="7288" spc="145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CONCLUSÃO</a:t>
            </a:r>
          </a:p>
        </p:txBody>
      </p:sp>
      <p:sp>
        <p:nvSpPr>
          <p:cNvPr id="7" name="Freeform 7"/>
          <p:cNvSpPr/>
          <p:nvPr/>
        </p:nvSpPr>
        <p:spPr>
          <a:xfrm rot="-10800000">
            <a:off x="14130545" y="-441268"/>
            <a:ext cx="4157455" cy="3726591"/>
          </a:xfrm>
          <a:custGeom>
            <a:avLst/>
            <a:gdLst/>
            <a:ahLst/>
            <a:cxnLst/>
            <a:rect l="l" t="t" r="r" b="b"/>
            <a:pathLst>
              <a:path w="4157455" h="3726591">
                <a:moveTo>
                  <a:pt x="0" y="0"/>
                </a:moveTo>
                <a:lnTo>
                  <a:pt x="4157455" y="0"/>
                </a:lnTo>
                <a:lnTo>
                  <a:pt x="4157455" y="3726591"/>
                </a:lnTo>
                <a:lnTo>
                  <a:pt x="0" y="3726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093596" y="1977565"/>
            <a:ext cx="20475192" cy="195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630"/>
              </a:lnSpc>
              <a:spcBef>
                <a:spcPct val="0"/>
              </a:spcBef>
            </a:pPr>
            <a:r>
              <a:rPr lang="en-US" sz="14630">
                <a:solidFill>
                  <a:srgbClr val="292929"/>
                </a:solidFill>
                <a:latin typeface="Intro"/>
                <a:ea typeface="Intro"/>
                <a:cs typeface="Intro"/>
                <a:sym typeface="Intro"/>
              </a:rPr>
              <a:t>Obrigado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89897" y="7632987"/>
            <a:ext cx="11308206" cy="76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35"/>
              </a:lnSpc>
              <a:spcBef>
                <a:spcPct val="0"/>
              </a:spcBef>
            </a:pPr>
            <a:r>
              <a:rPr lang="en-US" sz="4382" b="1" dirty="0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FatecER (</a:t>
            </a:r>
            <a:r>
              <a:rPr lang="en-US" sz="4382" b="1" dirty="0" err="1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Fatec</a:t>
            </a:r>
            <a:r>
              <a:rPr lang="en-US" sz="4382" b="1" dirty="0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382" b="1" dirty="0" err="1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Eleições</a:t>
            </a:r>
            <a:r>
              <a:rPr lang="en-US" sz="4382" b="1" dirty="0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de </a:t>
            </a:r>
            <a:r>
              <a:rPr lang="en-US" sz="4382" b="1" dirty="0" err="1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Represente</a:t>
            </a:r>
            <a:r>
              <a:rPr lang="en-US" sz="4382" b="1" dirty="0">
                <a:solidFill>
                  <a:srgbClr val="29292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)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15137296" y="0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7"/>
                </a:lnTo>
                <a:lnTo>
                  <a:pt x="0" y="2824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32179"/>
            <a:ext cx="3150704" cy="2824177"/>
          </a:xfrm>
          <a:custGeom>
            <a:avLst/>
            <a:gdLst/>
            <a:ahLst/>
            <a:cxnLst/>
            <a:rect l="l" t="t" r="r" b="b"/>
            <a:pathLst>
              <a:path w="3150704" h="2824177">
                <a:moveTo>
                  <a:pt x="0" y="0"/>
                </a:moveTo>
                <a:lnTo>
                  <a:pt x="3150704" y="0"/>
                </a:lnTo>
                <a:lnTo>
                  <a:pt x="3150704" y="2824176"/>
                </a:lnTo>
                <a:lnTo>
                  <a:pt x="0" y="282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3609985">
            <a:off x="-1610459" y="-2176762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609985">
            <a:off x="14823341" y="6865638"/>
            <a:ext cx="5278317" cy="5406098"/>
          </a:xfrm>
          <a:custGeom>
            <a:avLst/>
            <a:gdLst/>
            <a:ahLst/>
            <a:cxnLst/>
            <a:rect l="l" t="t" r="r" b="b"/>
            <a:pathLst>
              <a:path w="5278317" h="5406098">
                <a:moveTo>
                  <a:pt x="0" y="0"/>
                </a:moveTo>
                <a:lnTo>
                  <a:pt x="5278318" y="0"/>
                </a:lnTo>
                <a:lnTo>
                  <a:pt x="5278318" y="5406098"/>
                </a:lnTo>
                <a:lnTo>
                  <a:pt x="0" y="540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03689" y="4374854"/>
            <a:ext cx="6680623" cy="2893181"/>
          </a:xfrm>
          <a:custGeom>
            <a:avLst/>
            <a:gdLst/>
            <a:ahLst/>
            <a:cxnLst/>
            <a:rect l="l" t="t" r="r" b="b"/>
            <a:pathLst>
              <a:path w="6680623" h="2893181">
                <a:moveTo>
                  <a:pt x="0" y="0"/>
                </a:moveTo>
                <a:lnTo>
                  <a:pt x="6680622" y="0"/>
                </a:lnTo>
                <a:lnTo>
                  <a:pt x="6680622" y="2893182"/>
                </a:lnTo>
                <a:lnTo>
                  <a:pt x="0" y="28931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365" b="-18365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290</Words>
  <Application>Microsoft Office PowerPoint</Application>
  <PresentationFormat>Personalizar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Intro</vt:lpstr>
      <vt:lpstr>Glacial Indifference Bold</vt:lpstr>
      <vt:lpstr>Open Sauce</vt:lpstr>
      <vt:lpstr>Arial</vt:lpstr>
      <vt:lpstr>Glacial Indifference</vt:lpstr>
      <vt:lpstr>Open Sauce 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FatecER</dc:title>
  <cp:lastModifiedBy>Conta da Microsoft</cp:lastModifiedBy>
  <cp:revision>9</cp:revision>
  <dcterms:created xsi:type="dcterms:W3CDTF">2006-08-16T00:00:00Z</dcterms:created>
  <dcterms:modified xsi:type="dcterms:W3CDTF">2025-12-12T14:39:30Z</dcterms:modified>
  <dc:identifier>DAG6LyHnuz4</dc:identifier>
</cp:coreProperties>
</file>